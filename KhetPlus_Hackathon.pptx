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60BA042B-8745-2C3D-4F3A-2ADCDA9A282F}">
          <p14:sldIdLst>
            <p14:sldId id="256"/>
          </p14:sldIdLst>
        </p14:section>
        <p14:section name="Problem" id="{55DD705E-35F4-F103-25B1-8D204629FA95}">
          <p14:sldIdLst>
            <p14:sldId id="257"/>
          </p14:sldIdLst>
        </p14:section>
        <p14:section name="Solution" id="{802D21E9-5A2D-5CAF-C8C9-23F2D1831FD0}">
          <p14:sldIdLst>
            <p14:sldId id="258"/>
          </p14:sldIdLst>
        </p14:section>
        <p14:section name="Research" id="{BCE21592-CCBE-66C9-004C-3DB1D18CBD5A}">
          <p14:sldIdLst>
            <p14:sldId id="259"/>
          </p14:sldIdLst>
        </p14:section>
        <p14:section name="Plan" id="{87F58ECF-21AC-DC62-6029-C493E0976553}">
          <p14:sldIdLst>
            <p14:sldId id="260"/>
            <p14:sldId id="261"/>
            <p14:sldId id="262"/>
          </p14:sldIdLst>
        </p14:section>
        <p14:section name="Close" id="{3D45C3C8-10B1-3D31-258E-36755CCBA28C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3059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team and KhetPlus. Replace 'HACKATHON 2026' with the actual hackathon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>
                    <a:alpha val="70000"/>
                  </a:schemeClr>
                </a:solidFill>
              </a:rPr>
              <a:t>KhetPlus  |  AI-Powered Smart Farming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KhetPlus  |  AI-Powered Smart Farming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circle"/>
          <p:cNvSpPr/>
          <p:nvPr/>
        </p:nvSpPr>
        <p:spPr>
          <a:xfrm>
            <a:off x="548640" y="64008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" name="Image 0" descr="Leaf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841248"/>
            <a:ext cx="420624" cy="420624"/>
          </a:xfrm>
          <a:prstGeom prst="rect">
            <a:avLst/>
          </a:prstGeom>
        </p:spPr>
      </p:pic>
      <p:sp>
        <p:nvSpPr>
          <p:cNvPr id="4" name="Project name"/>
          <p:cNvSpPr txBox="1"/>
          <p:nvPr/>
        </p:nvSpPr>
        <p:spPr>
          <a:xfrm>
            <a:off x="1554480" y="5943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KhetPlus</a:t>
            </a:r>
            <a:endParaRPr lang="en-US" sz="4400" dirty="0"/>
          </a:p>
        </p:txBody>
      </p:sp>
      <p:sp>
        <p:nvSpPr>
          <p:cNvPr id="5" name="Tagline"/>
          <p:cNvSpPr txBox="1"/>
          <p:nvPr/>
        </p:nvSpPr>
        <p:spPr>
          <a:xfrm>
            <a:off x="1554480" y="1188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accent2"/>
                </a:solidFill>
              </a:rPr>
              <a:t>AI-Powered Smart Farming Platform</a:t>
            </a:r>
            <a:endParaRPr lang="en-US" sz="1800" dirty="0"/>
          </a:p>
        </p:txBody>
      </p:sp>
      <p:sp>
        <p:nvSpPr>
          <p:cNvPr id="6" name="Subtitle"/>
          <p:cNvSpPr txBox="1"/>
          <p:nvPr/>
        </p:nvSpPr>
        <p:spPr>
          <a:xfrm>
            <a:off x="548640" y="18288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Detect crop disease from a single leaf photo - get treatment, weather, prices and motor control in one app, in Marathi, Hindi and English.</a:t>
            </a:r>
            <a:endParaRPr lang="en-US" sz="1400" dirty="0"/>
          </a:p>
        </p:txBody>
      </p:sp>
      <p:sp>
        <p:nvSpPr>
          <p:cNvPr id="7" name="Hackathon line"/>
          <p:cNvSpPr txBox="1"/>
          <p:nvPr/>
        </p:nvSpPr>
        <p:spPr>
          <a:xfrm>
            <a:off x="548640" y="28803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HACKATHON 2026  |  Theme: Agriculture, FoodTech &amp; Rural Development  |  Category: Software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 &amp; Motivation</a:t>
            </a:r>
            <a:endParaRPr lang="en-US" sz="2800" dirty="0"/>
          </a:p>
        </p:txBody>
      </p:sp>
      <p:sp>
        <p:nvSpPr>
          <p:cNvPr id="3" name="Problem card"/>
          <p:cNvSpPr/>
          <p:nvPr/>
        </p:nvSpPr>
        <p:spPr>
          <a:xfrm>
            <a:off x="548640" y="1188720"/>
            <a:ext cx="3383280" cy="3383280"/>
          </a:xfrm>
          <a:prstGeom prst="roundRect">
            <a:avLst>
              <a:gd name="adj" fmla="val 2703"/>
            </a:avLst>
          </a:prstGeom>
          <a:solidFill>
            <a:schemeClr val="tx2"/>
          </a:solidFill>
          <a:ln w="9525">
            <a:solidFill>
              <a:srgbClr val="D5E5CF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Problem label"/>
          <p:cNvSpPr txBox="1"/>
          <p:nvPr/>
        </p:nvSpPr>
        <p:spPr>
          <a:xfrm>
            <a:off x="777240" y="1325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Problem statement"/>
          <p:cNvSpPr txBox="1"/>
          <p:nvPr/>
        </p:nvSpPr>
        <p:spPr>
          <a:xfrm>
            <a:off x="777240" y="16459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Early detection and management of crop diseases and pest infestations.</a:t>
            </a:r>
            <a:endParaRPr lang="en-US" sz="1700" dirty="0"/>
          </a:p>
        </p:txBody>
      </p:sp>
      <p:sp>
        <p:nvSpPr>
          <p:cNvPr id="6" name="Problem detail"/>
          <p:cNvSpPr txBox="1"/>
          <p:nvPr/>
        </p:nvSpPr>
        <p:spPr>
          <a:xfrm>
            <a:off x="777240" y="26974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Diagnosis depends on manual expert visits, so treatment is delayed, disease spreads and yield is lost. Farmers guess fertilizer and pesticide doses, raising cost and harming soil.</a:t>
            </a:r>
            <a:endParaRPr lang="en-US" sz="1200" dirty="0"/>
          </a:p>
        </p:txBody>
      </p:sp>
      <p:sp>
        <p:nvSpPr>
          <p:cNvPr id="7" name="Motivation card 1"/>
          <p:cNvSpPr/>
          <p:nvPr/>
        </p:nvSpPr>
        <p:spPr>
          <a:xfrm>
            <a:off x="4160520" y="1188720"/>
            <a:ext cx="2148840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rgbClr val="D5E5CF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Motivation icon bg 1"/>
          <p:cNvSpPr/>
          <p:nvPr/>
        </p:nvSpPr>
        <p:spPr>
          <a:xfrm>
            <a:off x="4297680" y="132588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mage 0" descr="Economic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3692" y="1421892"/>
            <a:ext cx="219456" cy="219456"/>
          </a:xfrm>
          <a:prstGeom prst="rect">
            <a:avLst/>
          </a:prstGeom>
        </p:spPr>
      </p:pic>
      <p:sp>
        <p:nvSpPr>
          <p:cNvPr id="10" name="Motivation title 1"/>
          <p:cNvSpPr txBox="1"/>
          <p:nvPr/>
        </p:nvSpPr>
        <p:spPr>
          <a:xfrm>
            <a:off x="4800600" y="13258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Economic</a:t>
            </a:r>
            <a:endParaRPr lang="en-US" sz="1400" dirty="0"/>
          </a:p>
        </p:txBody>
      </p:sp>
      <p:sp>
        <p:nvSpPr>
          <p:cNvPr id="11" name="Motivation text 1"/>
          <p:cNvSpPr txBox="1"/>
          <p:nvPr/>
        </p:nvSpPr>
        <p:spPr>
          <a:xfrm>
            <a:off x="4297680" y="1847088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Early detection and exact dosage cut crop losses and chemical spending.</a:t>
            </a:r>
            <a:endParaRPr lang="en-US" sz="1100" dirty="0"/>
          </a:p>
        </p:txBody>
      </p:sp>
      <p:sp>
        <p:nvSpPr>
          <p:cNvPr id="12" name="Motivation card 2"/>
          <p:cNvSpPr/>
          <p:nvPr/>
        </p:nvSpPr>
        <p:spPr>
          <a:xfrm>
            <a:off x="6446520" y="1188720"/>
            <a:ext cx="2148840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rgbClr val="D5E5CF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Motivation icon bg 2"/>
          <p:cNvSpPr/>
          <p:nvPr/>
        </p:nvSpPr>
        <p:spPr>
          <a:xfrm>
            <a:off x="6583680" y="13258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mage 1" descr="Environmental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9692" y="1421892"/>
            <a:ext cx="219456" cy="219456"/>
          </a:xfrm>
          <a:prstGeom prst="rect">
            <a:avLst/>
          </a:prstGeom>
        </p:spPr>
      </p:pic>
      <p:sp>
        <p:nvSpPr>
          <p:cNvPr id="15" name="Motivation title 2"/>
          <p:cNvSpPr txBox="1"/>
          <p:nvPr/>
        </p:nvSpPr>
        <p:spPr>
          <a:xfrm>
            <a:off x="7086600" y="13258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Environmental</a:t>
            </a:r>
            <a:endParaRPr lang="en-US" sz="1400" dirty="0"/>
          </a:p>
        </p:txBody>
      </p:sp>
      <p:sp>
        <p:nvSpPr>
          <p:cNvPr id="16" name="Motivation text 2"/>
          <p:cNvSpPr txBox="1"/>
          <p:nvPr/>
        </p:nvSpPr>
        <p:spPr>
          <a:xfrm>
            <a:off x="6583680" y="1847088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Balanced organic and chemical treatment protects soil and reduces runoff.</a:t>
            </a:r>
            <a:endParaRPr lang="en-US" sz="1100" dirty="0"/>
          </a:p>
        </p:txBody>
      </p:sp>
      <p:sp>
        <p:nvSpPr>
          <p:cNvPr id="17" name="Motivation card 3"/>
          <p:cNvSpPr/>
          <p:nvPr/>
        </p:nvSpPr>
        <p:spPr>
          <a:xfrm>
            <a:off x="4160520" y="2926080"/>
            <a:ext cx="2148840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rgbClr val="D5E5CF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Motivation icon bg 3"/>
          <p:cNvSpPr/>
          <p:nvPr/>
        </p:nvSpPr>
        <p:spPr>
          <a:xfrm>
            <a:off x="4297680" y="3063240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9" name="Image 2" descr="Social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3692" y="3159252"/>
            <a:ext cx="219456" cy="219456"/>
          </a:xfrm>
          <a:prstGeom prst="rect">
            <a:avLst/>
          </a:prstGeom>
        </p:spPr>
      </p:pic>
      <p:sp>
        <p:nvSpPr>
          <p:cNvPr id="20" name="Motivation title 3"/>
          <p:cNvSpPr txBox="1"/>
          <p:nvPr/>
        </p:nvSpPr>
        <p:spPr>
          <a:xfrm>
            <a:off x="4800600" y="30632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Social</a:t>
            </a:r>
            <a:endParaRPr lang="en-US" sz="1400" dirty="0"/>
          </a:p>
        </p:txBody>
      </p:sp>
      <p:sp>
        <p:nvSpPr>
          <p:cNvPr id="21" name="Motivation text 3"/>
          <p:cNvSpPr txBox="1"/>
          <p:nvPr/>
        </p:nvSpPr>
        <p:spPr>
          <a:xfrm>
            <a:off x="4297680" y="3584448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Voice support in Marathi, Hindi and English makes it easy for every farmer.</a:t>
            </a:r>
            <a:endParaRPr lang="en-US" sz="1100" dirty="0"/>
          </a:p>
        </p:txBody>
      </p:sp>
      <p:sp>
        <p:nvSpPr>
          <p:cNvPr id="22" name="Motivation card 4"/>
          <p:cNvSpPr/>
          <p:nvPr/>
        </p:nvSpPr>
        <p:spPr>
          <a:xfrm>
            <a:off x="6446520" y="2926080"/>
            <a:ext cx="2148840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rgbClr val="D5E5CF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Motivation icon bg 4"/>
          <p:cNvSpPr/>
          <p:nvPr/>
        </p:nvSpPr>
        <p:spPr>
          <a:xfrm>
            <a:off x="6583680" y="3063240"/>
            <a:ext cx="411480" cy="41148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4" name="Image 3" descr="Administrative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9692" y="3159252"/>
            <a:ext cx="219456" cy="219456"/>
          </a:xfrm>
          <a:prstGeom prst="rect">
            <a:avLst/>
          </a:prstGeom>
        </p:spPr>
      </p:pic>
      <p:sp>
        <p:nvSpPr>
          <p:cNvPr id="25" name="Motivation title 4"/>
          <p:cNvSpPr txBox="1"/>
          <p:nvPr/>
        </p:nvSpPr>
        <p:spPr>
          <a:xfrm>
            <a:off x="7086600" y="30632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Administrative</a:t>
            </a:r>
            <a:endParaRPr lang="en-US" sz="1400" dirty="0"/>
          </a:p>
        </p:txBody>
      </p:sp>
      <p:sp>
        <p:nvSpPr>
          <p:cNvPr id="26" name="Motivation text 4"/>
          <p:cNvSpPr txBox="1"/>
          <p:nvPr/>
        </p:nvSpPr>
        <p:spPr>
          <a:xfrm>
            <a:off x="6583680" y="3584448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Regional disease alerts help agricultural officers act faster in the field.</a:t>
            </a:r>
            <a:endParaRPr lang="en-US" sz="11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Solution: KhetPlus</a:t>
            </a:r>
            <a:endParaRPr lang="en-US" sz="2800" dirty="0"/>
          </a:p>
        </p:txBody>
      </p:sp>
      <p:sp>
        <p:nvSpPr>
          <p:cNvPr id="3" name="Solution intro"/>
          <p:cNvSpPr txBox="1"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One responsive web app that turns a leaf photo into a diagnosis, a treatment plan and a recovery estimate.</a:t>
            </a:r>
            <a:endParaRPr lang="en-US" sz="1300" dirty="0"/>
          </a:p>
        </p:txBody>
      </p:sp>
      <p:sp>
        <p:nvSpPr>
          <p:cNvPr id="4" name="Feature card 1"/>
          <p:cNvSpPr/>
          <p:nvPr/>
        </p:nvSpPr>
        <p:spPr>
          <a:xfrm>
            <a:off x="548640" y="1417320"/>
            <a:ext cx="2560320" cy="1508760"/>
          </a:xfrm>
          <a:prstGeom prst="roundRect">
            <a:avLst>
              <a:gd name="adj" fmla="val 6061"/>
            </a:avLst>
          </a:prstGeom>
          <a:solidFill>
            <a:schemeClr val="bg1"/>
          </a:solidFill>
          <a:ln w="9525">
            <a:solidFill>
              <a:srgbClr val="D5E5CF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Feature icon bg 1"/>
          <p:cNvSpPr/>
          <p:nvPr/>
        </p:nvSpPr>
        <p:spPr>
          <a:xfrm>
            <a:off x="713232" y="157276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AI Disease Detection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1673352"/>
            <a:ext cx="256032" cy="256032"/>
          </a:xfrm>
          <a:prstGeom prst="rect">
            <a:avLst/>
          </a:prstGeom>
        </p:spPr>
      </p:pic>
      <p:sp>
        <p:nvSpPr>
          <p:cNvPr id="7" name="Feature title 1"/>
          <p:cNvSpPr txBox="1"/>
          <p:nvPr/>
        </p:nvSpPr>
        <p:spPr>
          <a:xfrm>
            <a:off x="1280160" y="15727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AI Disease Detection</a:t>
            </a:r>
            <a:endParaRPr lang="en-US" sz="1300" dirty="0"/>
          </a:p>
        </p:txBody>
      </p:sp>
      <p:sp>
        <p:nvSpPr>
          <p:cNvPr id="8" name="Feature text 1"/>
          <p:cNvSpPr txBox="1"/>
          <p:nvPr/>
        </p:nvSpPr>
        <p:spPr>
          <a:xfrm>
            <a:off x="713232" y="21488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Upload a leaf photo; the AI/ML model identifies the disease in seconds.</a:t>
            </a:r>
            <a:endParaRPr lang="en-US" sz="1100" dirty="0"/>
          </a:p>
        </p:txBody>
      </p:sp>
      <p:sp>
        <p:nvSpPr>
          <p:cNvPr id="9" name="Feature card 2"/>
          <p:cNvSpPr/>
          <p:nvPr/>
        </p:nvSpPr>
        <p:spPr>
          <a:xfrm>
            <a:off x="3264408" y="1417320"/>
            <a:ext cx="2560320" cy="1508760"/>
          </a:xfrm>
          <a:prstGeom prst="roundRect">
            <a:avLst>
              <a:gd name="adj" fmla="val 6061"/>
            </a:avLst>
          </a:prstGeom>
          <a:solidFill>
            <a:schemeClr val="bg1"/>
          </a:solidFill>
          <a:ln w="9525">
            <a:solidFill>
              <a:srgbClr val="D5E5CF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Feature icon bg 2"/>
          <p:cNvSpPr/>
          <p:nvPr/>
        </p:nvSpPr>
        <p:spPr>
          <a:xfrm>
            <a:off x="3429000" y="1572768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1" name="Image 1" descr="Smart Fertilizer Advic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9584" y="1673352"/>
            <a:ext cx="256032" cy="256032"/>
          </a:xfrm>
          <a:prstGeom prst="rect">
            <a:avLst/>
          </a:prstGeom>
        </p:spPr>
      </p:pic>
      <p:sp>
        <p:nvSpPr>
          <p:cNvPr id="12" name="Feature title 2"/>
          <p:cNvSpPr txBox="1"/>
          <p:nvPr/>
        </p:nvSpPr>
        <p:spPr>
          <a:xfrm>
            <a:off x="3995928" y="15727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Smart Fertilizer Advice</a:t>
            </a:r>
            <a:endParaRPr lang="en-US" sz="1300" dirty="0"/>
          </a:p>
        </p:txBody>
      </p:sp>
      <p:sp>
        <p:nvSpPr>
          <p:cNvPr id="13" name="Feature text 2"/>
          <p:cNvSpPr txBox="1"/>
          <p:nvPr/>
        </p:nvSpPr>
        <p:spPr>
          <a:xfrm>
            <a:off x="3429000" y="21488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Exact fertilizer and treatment doses based on ICAR and state guidelines.</a:t>
            </a:r>
            <a:endParaRPr lang="en-US" sz="1100" dirty="0"/>
          </a:p>
        </p:txBody>
      </p:sp>
      <p:sp>
        <p:nvSpPr>
          <p:cNvPr id="14" name="Feature card 3"/>
          <p:cNvSpPr/>
          <p:nvPr/>
        </p:nvSpPr>
        <p:spPr>
          <a:xfrm>
            <a:off x="5980176" y="1417320"/>
            <a:ext cx="2560320" cy="1508760"/>
          </a:xfrm>
          <a:prstGeom prst="roundRect">
            <a:avLst>
              <a:gd name="adj" fmla="val 6061"/>
            </a:avLst>
          </a:prstGeom>
          <a:solidFill>
            <a:schemeClr val="bg1"/>
          </a:solidFill>
          <a:ln w="9525">
            <a:solidFill>
              <a:srgbClr val="D5E5CF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Feature icon bg 3"/>
          <p:cNvSpPr/>
          <p:nvPr/>
        </p:nvSpPr>
        <p:spPr>
          <a:xfrm>
            <a:off x="6144768" y="157276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Image 2" descr="Recovery Time Estimat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352" y="1673352"/>
            <a:ext cx="256032" cy="256032"/>
          </a:xfrm>
          <a:prstGeom prst="rect">
            <a:avLst/>
          </a:prstGeom>
        </p:spPr>
      </p:pic>
      <p:sp>
        <p:nvSpPr>
          <p:cNvPr id="17" name="Feature title 3"/>
          <p:cNvSpPr txBox="1"/>
          <p:nvPr/>
        </p:nvSpPr>
        <p:spPr>
          <a:xfrm>
            <a:off x="6711696" y="15727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Recovery Time Estimate</a:t>
            </a:r>
            <a:endParaRPr lang="en-US" sz="1300" dirty="0"/>
          </a:p>
        </p:txBody>
      </p:sp>
      <p:sp>
        <p:nvSpPr>
          <p:cNvPr id="18" name="Feature text 3"/>
          <p:cNvSpPr txBox="1"/>
          <p:nvPr/>
        </p:nvSpPr>
        <p:spPr>
          <a:xfrm>
            <a:off x="6144768" y="21488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Uses disease severity and weather data to predict crop recovery.</a:t>
            </a:r>
            <a:endParaRPr lang="en-US" sz="1100" dirty="0"/>
          </a:p>
        </p:txBody>
      </p:sp>
      <p:sp>
        <p:nvSpPr>
          <p:cNvPr id="19" name="Feature card 4"/>
          <p:cNvSpPr/>
          <p:nvPr/>
        </p:nvSpPr>
        <p:spPr>
          <a:xfrm>
            <a:off x="548640" y="3063240"/>
            <a:ext cx="2560320" cy="1508760"/>
          </a:xfrm>
          <a:prstGeom prst="roundRect">
            <a:avLst>
              <a:gd name="adj" fmla="val 6061"/>
            </a:avLst>
          </a:prstGeom>
          <a:solidFill>
            <a:schemeClr val="bg1"/>
          </a:solidFill>
          <a:ln w="9525">
            <a:solidFill>
              <a:srgbClr val="D5E5CF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Feature icon bg 4"/>
          <p:cNvSpPr/>
          <p:nvPr/>
        </p:nvSpPr>
        <p:spPr>
          <a:xfrm>
            <a:off x="713232" y="321868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1" name="Image 3" descr="Weather &amp; Live Prices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" y="3319272"/>
            <a:ext cx="256032" cy="256032"/>
          </a:xfrm>
          <a:prstGeom prst="rect">
            <a:avLst/>
          </a:prstGeom>
        </p:spPr>
      </p:pic>
      <p:sp>
        <p:nvSpPr>
          <p:cNvPr id="22" name="Feature title 4"/>
          <p:cNvSpPr txBox="1"/>
          <p:nvPr/>
        </p:nvSpPr>
        <p:spPr>
          <a:xfrm>
            <a:off x="1280160" y="32186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Weather &amp; Live Prices</a:t>
            </a:r>
            <a:endParaRPr lang="en-US" sz="1300" dirty="0"/>
          </a:p>
        </p:txBody>
      </p:sp>
      <p:sp>
        <p:nvSpPr>
          <p:cNvPr id="23" name="Feature text 4"/>
          <p:cNvSpPr txBox="1"/>
          <p:nvPr/>
        </p:nvSpPr>
        <p:spPr>
          <a:xfrm>
            <a:off x="713232" y="37947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Forecasts plus live crop prices to plan sowing, spraying and selling.</a:t>
            </a:r>
            <a:endParaRPr lang="en-US" sz="1100" dirty="0"/>
          </a:p>
        </p:txBody>
      </p:sp>
      <p:sp>
        <p:nvSpPr>
          <p:cNvPr id="24" name="Feature card 5"/>
          <p:cNvSpPr/>
          <p:nvPr/>
        </p:nvSpPr>
        <p:spPr>
          <a:xfrm>
            <a:off x="3264408" y="3063240"/>
            <a:ext cx="2560320" cy="1508760"/>
          </a:xfrm>
          <a:prstGeom prst="roundRect">
            <a:avLst>
              <a:gd name="adj" fmla="val 6061"/>
            </a:avLst>
          </a:prstGeom>
          <a:solidFill>
            <a:schemeClr val="bg1"/>
          </a:solidFill>
          <a:ln w="9525">
            <a:solidFill>
              <a:srgbClr val="D5E5CF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Feature icon bg 5"/>
          <p:cNvSpPr/>
          <p:nvPr/>
        </p:nvSpPr>
        <p:spPr>
          <a:xfrm>
            <a:off x="3429000" y="3218688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6" name="Image 4" descr="Shops, Power &amp; Motor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9584" y="3319272"/>
            <a:ext cx="256032" cy="256032"/>
          </a:xfrm>
          <a:prstGeom prst="rect">
            <a:avLst/>
          </a:prstGeom>
        </p:spPr>
      </p:pic>
      <p:sp>
        <p:nvSpPr>
          <p:cNvPr id="27" name="Feature title 5"/>
          <p:cNvSpPr txBox="1"/>
          <p:nvPr/>
        </p:nvSpPr>
        <p:spPr>
          <a:xfrm>
            <a:off x="3995928" y="32186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Shops, Power &amp; Motor</a:t>
            </a:r>
            <a:endParaRPr lang="en-US" sz="1300" dirty="0"/>
          </a:p>
        </p:txBody>
      </p:sp>
      <p:sp>
        <p:nvSpPr>
          <p:cNvPr id="28" name="Feature text 5"/>
          <p:cNvSpPr txBox="1"/>
          <p:nvPr/>
        </p:nvSpPr>
        <p:spPr>
          <a:xfrm>
            <a:off x="3429000" y="37947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Nearby tool shops, electricity availability and remote motor ON/OFF.</a:t>
            </a:r>
            <a:endParaRPr lang="en-US" sz="1100" dirty="0"/>
          </a:p>
        </p:txBody>
      </p:sp>
      <p:sp>
        <p:nvSpPr>
          <p:cNvPr id="29" name="Feature card 6"/>
          <p:cNvSpPr/>
          <p:nvPr/>
        </p:nvSpPr>
        <p:spPr>
          <a:xfrm>
            <a:off x="5980176" y="3063240"/>
            <a:ext cx="2560320" cy="1508760"/>
          </a:xfrm>
          <a:prstGeom prst="roundRect">
            <a:avLst>
              <a:gd name="adj" fmla="val 6061"/>
            </a:avLst>
          </a:prstGeom>
          <a:solidFill>
            <a:schemeClr val="bg1"/>
          </a:solidFill>
          <a:ln w="9525">
            <a:solidFill>
              <a:srgbClr val="D5E5CF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Feature icon bg 6"/>
          <p:cNvSpPr/>
          <p:nvPr/>
        </p:nvSpPr>
        <p:spPr>
          <a:xfrm>
            <a:off x="6144768" y="3218688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1" name="Image 5" descr="Multilingual Voice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5352" y="3319272"/>
            <a:ext cx="256032" cy="256032"/>
          </a:xfrm>
          <a:prstGeom prst="rect">
            <a:avLst/>
          </a:prstGeom>
        </p:spPr>
      </p:pic>
      <p:sp>
        <p:nvSpPr>
          <p:cNvPr id="32" name="Feature title 6"/>
          <p:cNvSpPr txBox="1"/>
          <p:nvPr/>
        </p:nvSpPr>
        <p:spPr>
          <a:xfrm>
            <a:off x="6711696" y="32186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Multilingual Voice</a:t>
            </a:r>
            <a:endParaRPr lang="en-US" sz="1300" dirty="0"/>
          </a:p>
        </p:txBody>
      </p:sp>
      <p:sp>
        <p:nvSpPr>
          <p:cNvPr id="33" name="Feature text 6"/>
          <p:cNvSpPr txBox="1"/>
          <p:nvPr/>
        </p:nvSpPr>
        <p:spPr>
          <a:xfrm>
            <a:off x="6144768" y="37947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Marathi, Hindi and English with voice assistance and regional alerts.</a:t>
            </a:r>
            <a:endParaRPr lang="en-US" sz="11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Literature Review &amp; Gap Analysis</a:t>
            </a:r>
            <a:endParaRPr lang="en-US" sz="2800" dirty="0"/>
          </a:p>
        </p:txBody>
      </p:sp>
      <p:sp>
        <p:nvSpPr>
          <p:cNvPr id="3" name="Sources label"/>
          <p:cNvSpPr txBox="1"/>
          <p:nvPr/>
        </p:nvSpPr>
        <p:spPr>
          <a:xfrm>
            <a:off x="548640" y="1143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WHAT WE LEARNED</a:t>
            </a:r>
            <a:endParaRPr lang="en-US" sz="1100" dirty="0"/>
          </a:p>
        </p:txBody>
      </p:sp>
      <p:sp>
        <p:nvSpPr>
          <p:cNvPr id="4" name="Source card 1"/>
          <p:cNvSpPr/>
          <p:nvPr/>
        </p:nvSpPr>
        <p:spPr>
          <a:xfrm>
            <a:off x="548640" y="1463040"/>
            <a:ext cx="320040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rgbClr val="D5E5CF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ource bar 1"/>
          <p:cNvSpPr/>
          <p:nvPr/>
        </p:nvSpPr>
        <p:spPr>
          <a:xfrm>
            <a:off x="548640" y="1554480"/>
            <a:ext cx="64008" cy="7315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Source text 1"/>
          <p:cNvSpPr txBox="1"/>
          <p:nvPr/>
        </p:nvSpPr>
        <p:spPr>
          <a:xfrm>
            <a:off x="731520" y="14630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Maha VISTAAR AI Portal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Govt. of Maharashtra shows AI advisory is ready for farming.</a:t>
            </a:r>
            <a:endParaRPr lang="en-US" sz="1200" dirty="0"/>
          </a:p>
        </p:txBody>
      </p:sp>
      <p:sp>
        <p:nvSpPr>
          <p:cNvPr id="7" name="Source card 2"/>
          <p:cNvSpPr/>
          <p:nvPr/>
        </p:nvSpPr>
        <p:spPr>
          <a:xfrm>
            <a:off x="548640" y="2487168"/>
            <a:ext cx="320040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rgbClr val="D5E5CF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ource bar 2"/>
          <p:cNvSpPr/>
          <p:nvPr/>
        </p:nvSpPr>
        <p:spPr>
          <a:xfrm>
            <a:off x="548640" y="2578608"/>
            <a:ext cx="64008" cy="7315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Source text 2"/>
          <p:cNvSpPr txBox="1"/>
          <p:nvPr/>
        </p:nvSpPr>
        <p:spPr>
          <a:xfrm>
            <a:off x="731520" y="2487168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ICAR &amp; Dept. of Agriculture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Standard disease info, treatments and fertilizer doses.</a:t>
            </a:r>
            <a:endParaRPr lang="en-US" sz="1200" dirty="0"/>
          </a:p>
        </p:txBody>
      </p:sp>
      <p:sp>
        <p:nvSpPr>
          <p:cNvPr id="10" name="Source card 3"/>
          <p:cNvSpPr/>
          <p:nvPr/>
        </p:nvSpPr>
        <p:spPr>
          <a:xfrm>
            <a:off x="548640" y="3511296"/>
            <a:ext cx="320040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rgbClr val="D5E5CF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ource bar 3"/>
          <p:cNvSpPr/>
          <p:nvPr/>
        </p:nvSpPr>
        <p:spPr>
          <a:xfrm>
            <a:off x="548640" y="3602736"/>
            <a:ext cx="64008" cy="7315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Source text 3"/>
          <p:cNvSpPr txBox="1"/>
          <p:nvPr/>
        </p:nvSpPr>
        <p:spPr>
          <a:xfrm>
            <a:off x="731520" y="3511296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IMD, Open-Meteo, PlantVillage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Weather data and leaf image datasets enable accurate AI detection.</a:t>
            </a:r>
            <a:endParaRPr lang="en-US" sz="1200" dirty="0"/>
          </a:p>
        </p:txBody>
      </p:sp>
      <p:sp>
        <p:nvSpPr>
          <p:cNvPr id="13" name="Gap label"/>
          <p:cNvSpPr txBox="1"/>
          <p:nvPr/>
        </p:nvSpPr>
        <p:spPr>
          <a:xfrm>
            <a:off x="4023360" y="1143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GAPS KHETPLUS FILLS</a:t>
            </a:r>
            <a:endParaRPr lang="en-US" sz="1100" dirty="0"/>
          </a:p>
        </p:txBody>
      </p:sp>
      <p:graphicFrame>
        <p:nvGraphicFramePr>
          <p:cNvPr id="14" name="Gap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23360" y="1463040"/>
          <a:ext cx="4572000" cy="29260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Existing Gap</a:t>
                      </a:r>
                      <a:endParaRPr lang="en-US" sz="11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5E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KhetPlus Answer</a:t>
                      </a:r>
                      <a:endParaRPr lang="en-US" sz="11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5E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2A1C"/>
                          </a:solidFill>
                        </a:rPr>
                        <a:t>Diagnosis needs expert visits, delaying treatment</a:t>
                      </a:r>
                      <a:endParaRPr lang="en-US" sz="105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5E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4532D"/>
                          </a:solidFill>
                        </a:rPr>
                        <a:t>Instant AI diagnosis from a leaf photo</a:t>
                      </a:r>
                      <a:endParaRPr lang="en-US" sz="105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5E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2A1C"/>
                          </a:solidFill>
                        </a:rPr>
                        <a:t>No tool combines diagnosis, fertilizer advice and recovery time</a:t>
                      </a:r>
                      <a:endParaRPr lang="en-US" sz="105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5E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4532D"/>
                          </a:solidFill>
                        </a:rPr>
                        <a:t>All three in a single workflow</a:t>
                      </a:r>
                      <a:endParaRPr lang="en-US" sz="105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5E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2A1C"/>
                          </a:solidFill>
                        </a:rPr>
                        <a:t>Weather, prices, shops, power and motor control are scattered</a:t>
                      </a:r>
                      <a:endParaRPr lang="en-US" sz="105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5E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4532D"/>
                          </a:solidFill>
                        </a:rPr>
                        <a:t>Everything in one app</a:t>
                      </a:r>
                      <a:endParaRPr lang="en-US" sz="105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5E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2A1C"/>
                          </a:solidFill>
                        </a:rPr>
                        <a:t>Few offer Marathi, Hindi, English voice and regional alerts</a:t>
                      </a:r>
                      <a:endParaRPr lang="en-US" sz="105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5E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4532D"/>
                          </a:solidFill>
                        </a:rPr>
                        <a:t>Multilingual voice and outbreak alerts</a:t>
                      </a:r>
                      <a:endParaRPr lang="en-US" sz="105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5E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Objectives of Proposed Work</a:t>
            </a:r>
            <a:endParaRPr lang="en-US" sz="2800" dirty="0"/>
          </a:p>
        </p:txBody>
      </p:sp>
      <p:sp>
        <p:nvSpPr>
          <p:cNvPr id="3" name="Objective row 1"/>
          <p:cNvSpPr/>
          <p:nvPr/>
        </p:nvSpPr>
        <p:spPr>
          <a:xfrm>
            <a:off x="548640" y="1234440"/>
            <a:ext cx="8046720" cy="548640"/>
          </a:xfrm>
          <a:prstGeom prst="roundRect">
            <a:avLst>
              <a:gd name="adj" fmla="val 16667"/>
            </a:avLst>
          </a:prstGeom>
          <a:solidFill>
            <a:schemeClr val="bg1">
              <a:alpha val="10000"/>
            </a:schemeClr>
          </a:solidFill>
          <a:ln w="6350">
            <a:solidFill>
              <a:schemeClr val="bg1">
                <a:alpha val="35000"/>
              </a:schemeClr>
            </a:solidFill>
            <a:prstDash val="solid"/>
          </a:ln>
        </p:spPr>
      </p:sp>
      <p:sp>
        <p:nvSpPr>
          <p:cNvPr id="4" name="Objective number bg 1"/>
          <p:cNvSpPr/>
          <p:nvPr/>
        </p:nvSpPr>
        <p:spPr>
          <a:xfrm>
            <a:off x="658368" y="1307592"/>
            <a:ext cx="402336" cy="40233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Objective number 1"/>
          <p:cNvSpPr txBox="1"/>
          <p:nvPr/>
        </p:nvSpPr>
        <p:spPr>
          <a:xfrm>
            <a:off x="658368" y="1307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Objective verb 1"/>
          <p:cNvSpPr txBox="1"/>
          <p:nvPr/>
        </p:nvSpPr>
        <p:spPr>
          <a:xfrm>
            <a:off x="1280160" y="12344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Detect</a:t>
            </a:r>
            <a:endParaRPr lang="en-US" sz="1500" dirty="0"/>
          </a:p>
        </p:txBody>
      </p:sp>
      <p:sp>
        <p:nvSpPr>
          <p:cNvPr id="7" name="Objective text 1"/>
          <p:cNvSpPr txBox="1"/>
          <p:nvPr/>
        </p:nvSpPr>
        <p:spPr>
          <a:xfrm>
            <a:off x="2651760" y="12344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Crop diseases using AI leaf-image analysis within seconds.</a:t>
            </a:r>
            <a:endParaRPr lang="en-US" sz="1300" dirty="0"/>
          </a:p>
        </p:txBody>
      </p:sp>
      <p:sp>
        <p:nvSpPr>
          <p:cNvPr id="8" name="Objective row 2"/>
          <p:cNvSpPr/>
          <p:nvPr/>
        </p:nvSpPr>
        <p:spPr>
          <a:xfrm>
            <a:off x="548640" y="1874520"/>
            <a:ext cx="8046720" cy="548640"/>
          </a:xfrm>
          <a:prstGeom prst="roundRect">
            <a:avLst>
              <a:gd name="adj" fmla="val 16667"/>
            </a:avLst>
          </a:prstGeom>
          <a:solidFill>
            <a:schemeClr val="bg1">
              <a:alpha val="10000"/>
            </a:schemeClr>
          </a:solidFill>
          <a:ln w="6350">
            <a:solidFill>
              <a:schemeClr val="bg1">
                <a:alpha val="35000"/>
              </a:schemeClr>
            </a:solidFill>
            <a:prstDash val="solid"/>
          </a:ln>
        </p:spPr>
      </p:sp>
      <p:sp>
        <p:nvSpPr>
          <p:cNvPr id="9" name="Objective number bg 2"/>
          <p:cNvSpPr/>
          <p:nvPr/>
        </p:nvSpPr>
        <p:spPr>
          <a:xfrm>
            <a:off x="658368" y="1947672"/>
            <a:ext cx="402336" cy="40233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Objective number 2"/>
          <p:cNvSpPr txBox="1"/>
          <p:nvPr/>
        </p:nvSpPr>
        <p:spPr>
          <a:xfrm>
            <a:off x="658368" y="1947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Objective verb 2"/>
          <p:cNvSpPr txBox="1"/>
          <p:nvPr/>
        </p:nvSpPr>
        <p:spPr>
          <a:xfrm>
            <a:off x="1280160" y="18745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Recommend</a:t>
            </a:r>
            <a:endParaRPr lang="en-US" sz="1500" dirty="0"/>
          </a:p>
        </p:txBody>
      </p:sp>
      <p:sp>
        <p:nvSpPr>
          <p:cNvPr id="12" name="Objective text 2"/>
          <p:cNvSpPr txBox="1"/>
          <p:nvPr/>
        </p:nvSpPr>
        <p:spPr>
          <a:xfrm>
            <a:off x="2651760" y="187452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Smart fertilizer and disease treatment advice.</a:t>
            </a:r>
            <a:endParaRPr lang="en-US" sz="1300" dirty="0"/>
          </a:p>
        </p:txBody>
      </p:sp>
      <p:sp>
        <p:nvSpPr>
          <p:cNvPr id="13" name="Objective row 3"/>
          <p:cNvSpPr/>
          <p:nvPr/>
        </p:nvSpPr>
        <p:spPr>
          <a:xfrm>
            <a:off x="548640" y="2514600"/>
            <a:ext cx="8046720" cy="548640"/>
          </a:xfrm>
          <a:prstGeom prst="roundRect">
            <a:avLst>
              <a:gd name="adj" fmla="val 16667"/>
            </a:avLst>
          </a:prstGeom>
          <a:solidFill>
            <a:schemeClr val="bg1">
              <a:alpha val="10000"/>
            </a:schemeClr>
          </a:solidFill>
          <a:ln w="6350">
            <a:solidFill>
              <a:schemeClr val="bg1">
                <a:alpha val="35000"/>
              </a:schemeClr>
            </a:solidFill>
            <a:prstDash val="solid"/>
          </a:ln>
        </p:spPr>
      </p:sp>
      <p:sp>
        <p:nvSpPr>
          <p:cNvPr id="14" name="Objective number bg 3"/>
          <p:cNvSpPr/>
          <p:nvPr/>
        </p:nvSpPr>
        <p:spPr>
          <a:xfrm>
            <a:off x="658368" y="2587752"/>
            <a:ext cx="402336" cy="40233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Objective number 3"/>
          <p:cNvSpPr txBox="1"/>
          <p:nvPr/>
        </p:nvSpPr>
        <p:spPr>
          <a:xfrm>
            <a:off x="658368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Objective verb 3"/>
          <p:cNvSpPr txBox="1"/>
          <p:nvPr/>
        </p:nvSpPr>
        <p:spPr>
          <a:xfrm>
            <a:off x="1280160" y="25146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Estimate</a:t>
            </a:r>
            <a:endParaRPr lang="en-US" sz="1500" dirty="0"/>
          </a:p>
        </p:txBody>
      </p:sp>
      <p:sp>
        <p:nvSpPr>
          <p:cNvPr id="17" name="Objective text 3"/>
          <p:cNvSpPr txBox="1"/>
          <p:nvPr/>
        </p:nvSpPr>
        <p:spPr>
          <a:xfrm>
            <a:off x="2651760" y="251460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Crop recovery time from disease severity and weather data.</a:t>
            </a:r>
            <a:endParaRPr lang="en-US" sz="1300" dirty="0"/>
          </a:p>
        </p:txBody>
      </p:sp>
      <p:sp>
        <p:nvSpPr>
          <p:cNvPr id="18" name="Objective row 4"/>
          <p:cNvSpPr/>
          <p:nvPr/>
        </p:nvSpPr>
        <p:spPr>
          <a:xfrm>
            <a:off x="548640" y="3154680"/>
            <a:ext cx="8046720" cy="548640"/>
          </a:xfrm>
          <a:prstGeom prst="roundRect">
            <a:avLst>
              <a:gd name="adj" fmla="val 16667"/>
            </a:avLst>
          </a:prstGeom>
          <a:solidFill>
            <a:schemeClr val="bg1">
              <a:alpha val="10000"/>
            </a:schemeClr>
          </a:solidFill>
          <a:ln w="6350">
            <a:solidFill>
              <a:schemeClr val="bg1">
                <a:alpha val="35000"/>
              </a:schemeClr>
            </a:solidFill>
            <a:prstDash val="solid"/>
          </a:ln>
        </p:spPr>
      </p:sp>
      <p:sp>
        <p:nvSpPr>
          <p:cNvPr id="19" name="Objective number bg 4"/>
          <p:cNvSpPr/>
          <p:nvPr/>
        </p:nvSpPr>
        <p:spPr>
          <a:xfrm>
            <a:off x="658368" y="3227832"/>
            <a:ext cx="402336" cy="40233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Objective number 4"/>
          <p:cNvSpPr txBox="1"/>
          <p:nvPr/>
        </p:nvSpPr>
        <p:spPr>
          <a:xfrm>
            <a:off x="658368" y="3227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Objective verb 4"/>
          <p:cNvSpPr txBox="1"/>
          <p:nvPr/>
        </p:nvSpPr>
        <p:spPr>
          <a:xfrm>
            <a:off x="1280160" y="31546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Alert</a:t>
            </a:r>
            <a:endParaRPr lang="en-US" sz="1500" dirty="0"/>
          </a:p>
        </p:txBody>
      </p:sp>
      <p:sp>
        <p:nvSpPr>
          <p:cNvPr id="22" name="Objective text 4"/>
          <p:cNvSpPr txBox="1"/>
          <p:nvPr/>
        </p:nvSpPr>
        <p:spPr>
          <a:xfrm>
            <a:off x="2651760" y="315468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Regional disease alerts and pest outbreak reports.</a:t>
            </a:r>
            <a:endParaRPr lang="en-US" sz="1300" dirty="0"/>
          </a:p>
        </p:txBody>
      </p:sp>
      <p:sp>
        <p:nvSpPr>
          <p:cNvPr id="23" name="Objective row 5"/>
          <p:cNvSpPr/>
          <p:nvPr/>
        </p:nvSpPr>
        <p:spPr>
          <a:xfrm>
            <a:off x="548640" y="3794760"/>
            <a:ext cx="8046720" cy="548640"/>
          </a:xfrm>
          <a:prstGeom prst="roundRect">
            <a:avLst>
              <a:gd name="adj" fmla="val 16667"/>
            </a:avLst>
          </a:prstGeom>
          <a:solidFill>
            <a:schemeClr val="bg1">
              <a:alpha val="10000"/>
            </a:schemeClr>
          </a:solidFill>
          <a:ln w="6350">
            <a:solidFill>
              <a:schemeClr val="bg1">
                <a:alpha val="35000"/>
              </a:schemeClr>
            </a:solidFill>
            <a:prstDash val="solid"/>
          </a:ln>
        </p:spPr>
      </p:sp>
      <p:sp>
        <p:nvSpPr>
          <p:cNvPr id="24" name="Objective number bg 5"/>
          <p:cNvSpPr/>
          <p:nvPr/>
        </p:nvSpPr>
        <p:spPr>
          <a:xfrm>
            <a:off x="658368" y="3867912"/>
            <a:ext cx="402336" cy="40233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Objective number 5"/>
          <p:cNvSpPr txBox="1"/>
          <p:nvPr/>
        </p:nvSpPr>
        <p:spPr>
          <a:xfrm>
            <a:off x="658368" y="3867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5</a:t>
            </a:r>
            <a:endParaRPr lang="en-US" sz="1500" dirty="0"/>
          </a:p>
        </p:txBody>
      </p:sp>
      <p:sp>
        <p:nvSpPr>
          <p:cNvPr id="26" name="Objective verb 5"/>
          <p:cNvSpPr txBox="1"/>
          <p:nvPr/>
        </p:nvSpPr>
        <p:spPr>
          <a:xfrm>
            <a:off x="1280160" y="3794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Include</a:t>
            </a:r>
            <a:endParaRPr lang="en-US" sz="1500" dirty="0"/>
          </a:p>
        </p:txBody>
      </p:sp>
      <p:sp>
        <p:nvSpPr>
          <p:cNvPr id="27" name="Objective text 5"/>
          <p:cNvSpPr txBox="1"/>
          <p:nvPr/>
        </p:nvSpPr>
        <p:spPr>
          <a:xfrm>
            <a:off x="2651760" y="379476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Multilingual, voice-assisted support in Marathi, Hindi and English.</a:t>
            </a:r>
            <a:endParaRPr lang="en-US" sz="13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&amp; Workflow</a:t>
            </a:r>
            <a:endParaRPr lang="en-US" sz="2800" dirty="0"/>
          </a:p>
        </p:txBody>
      </p:sp>
      <p:sp>
        <p:nvSpPr>
          <p:cNvPr id="3" name="Step card 1"/>
          <p:cNvSpPr/>
          <p:nvPr/>
        </p:nvSpPr>
        <p:spPr>
          <a:xfrm>
            <a:off x="548640" y="1234440"/>
            <a:ext cx="1463040" cy="173736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9525">
            <a:solidFill>
              <a:srgbClr val="D5E5CF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tep badge 1"/>
          <p:cNvSpPr/>
          <p:nvPr/>
        </p:nvSpPr>
        <p:spPr>
          <a:xfrm>
            <a:off x="1051560" y="1097280"/>
            <a:ext cx="457200" cy="4572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5" name="Step number 1"/>
          <p:cNvSpPr txBox="1"/>
          <p:nvPr/>
        </p:nvSpPr>
        <p:spPr>
          <a:xfrm>
            <a:off x="105156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Step title 1"/>
          <p:cNvSpPr txBox="1"/>
          <p:nvPr/>
        </p:nvSpPr>
        <p:spPr>
          <a:xfrm>
            <a:off x="621792" y="1664208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Capture</a:t>
            </a:r>
            <a:endParaRPr lang="en-US" sz="1400" dirty="0"/>
          </a:p>
        </p:txBody>
      </p:sp>
      <p:sp>
        <p:nvSpPr>
          <p:cNvPr id="7" name="Step text 1"/>
          <p:cNvSpPr txBox="1"/>
          <p:nvPr/>
        </p:nvSpPr>
        <p:spPr>
          <a:xfrm>
            <a:off x="640080" y="201168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tx1"/>
                </a:solidFill>
              </a:rPr>
              <a:t>Farmer photographs the crop leaf</a:t>
            </a:r>
            <a:endParaRPr lang="en-US" sz="1050" dirty="0"/>
          </a:p>
        </p:txBody>
      </p:sp>
      <p:sp>
        <p:nvSpPr>
          <p:cNvPr id="8" name="Arrow 1"/>
          <p:cNvSpPr txBox="1"/>
          <p:nvPr/>
        </p:nvSpPr>
        <p:spPr>
          <a:xfrm>
            <a:off x="2011680" y="18288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2"/>
                </a:solidFill>
              </a:rPr>
              <a:t>&gt;</a:t>
            </a:r>
            <a:endParaRPr lang="en-US" sz="1600" dirty="0"/>
          </a:p>
        </p:txBody>
      </p:sp>
      <p:sp>
        <p:nvSpPr>
          <p:cNvPr id="9" name="Step card 2"/>
          <p:cNvSpPr/>
          <p:nvPr/>
        </p:nvSpPr>
        <p:spPr>
          <a:xfrm>
            <a:off x="2176272" y="1234440"/>
            <a:ext cx="1463040" cy="173736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9525">
            <a:solidFill>
              <a:srgbClr val="D5E5CF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tep badge 2"/>
          <p:cNvSpPr/>
          <p:nvPr/>
        </p:nvSpPr>
        <p:spPr>
          <a:xfrm>
            <a:off x="2679192" y="1097280"/>
            <a:ext cx="457200" cy="4572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1" name="Step number 2"/>
          <p:cNvSpPr txBox="1"/>
          <p:nvPr/>
        </p:nvSpPr>
        <p:spPr>
          <a:xfrm>
            <a:off x="2679192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Step title 2"/>
          <p:cNvSpPr txBox="1"/>
          <p:nvPr/>
        </p:nvSpPr>
        <p:spPr>
          <a:xfrm>
            <a:off x="2249424" y="1664208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Upload</a:t>
            </a:r>
            <a:endParaRPr lang="en-US" sz="1400" dirty="0"/>
          </a:p>
        </p:txBody>
      </p:sp>
      <p:sp>
        <p:nvSpPr>
          <p:cNvPr id="13" name="Step text 2"/>
          <p:cNvSpPr txBox="1"/>
          <p:nvPr/>
        </p:nvSpPr>
        <p:spPr>
          <a:xfrm>
            <a:off x="2267712" y="201168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tx1"/>
                </a:solidFill>
              </a:rPr>
              <a:t>Image sent via web app (mobile/desktop)</a:t>
            </a:r>
            <a:endParaRPr lang="en-US" sz="1050" dirty="0"/>
          </a:p>
        </p:txBody>
      </p:sp>
      <p:sp>
        <p:nvSpPr>
          <p:cNvPr id="14" name="Arrow 2"/>
          <p:cNvSpPr txBox="1"/>
          <p:nvPr/>
        </p:nvSpPr>
        <p:spPr>
          <a:xfrm>
            <a:off x="3639312" y="18288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2"/>
                </a:solidFill>
              </a:rPr>
              <a:t>&gt;</a:t>
            </a:r>
            <a:endParaRPr lang="en-US" sz="1600" dirty="0"/>
          </a:p>
        </p:txBody>
      </p:sp>
      <p:sp>
        <p:nvSpPr>
          <p:cNvPr id="15" name="Step card 3"/>
          <p:cNvSpPr/>
          <p:nvPr/>
        </p:nvSpPr>
        <p:spPr>
          <a:xfrm>
            <a:off x="3803904" y="1234440"/>
            <a:ext cx="1463040" cy="173736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9525">
            <a:solidFill>
              <a:srgbClr val="D5E5CF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tep badge 3"/>
          <p:cNvSpPr/>
          <p:nvPr/>
        </p:nvSpPr>
        <p:spPr>
          <a:xfrm>
            <a:off x="4306824" y="1097280"/>
            <a:ext cx="457200" cy="4572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7" name="Step number 3"/>
          <p:cNvSpPr txBox="1"/>
          <p:nvPr/>
        </p:nvSpPr>
        <p:spPr>
          <a:xfrm>
            <a:off x="4306824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Step title 3"/>
          <p:cNvSpPr txBox="1"/>
          <p:nvPr/>
        </p:nvSpPr>
        <p:spPr>
          <a:xfrm>
            <a:off x="3877056" y="1664208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AI Detect</a:t>
            </a:r>
            <a:endParaRPr lang="en-US" sz="1400" dirty="0"/>
          </a:p>
        </p:txBody>
      </p:sp>
      <p:sp>
        <p:nvSpPr>
          <p:cNvPr id="19" name="Step text 3"/>
          <p:cNvSpPr txBox="1"/>
          <p:nvPr/>
        </p:nvSpPr>
        <p:spPr>
          <a:xfrm>
            <a:off x="3895344" y="201168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tx1"/>
                </a:solidFill>
              </a:rPr>
              <a:t>ML model identifies disease and severity</a:t>
            </a:r>
            <a:endParaRPr lang="en-US" sz="1050" dirty="0"/>
          </a:p>
        </p:txBody>
      </p:sp>
      <p:sp>
        <p:nvSpPr>
          <p:cNvPr id="20" name="Arrow 3"/>
          <p:cNvSpPr txBox="1"/>
          <p:nvPr/>
        </p:nvSpPr>
        <p:spPr>
          <a:xfrm>
            <a:off x="5266944" y="18288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2"/>
                </a:solidFill>
              </a:rPr>
              <a:t>&gt;</a:t>
            </a:r>
            <a:endParaRPr lang="en-US" sz="1600" dirty="0"/>
          </a:p>
        </p:txBody>
      </p:sp>
      <p:sp>
        <p:nvSpPr>
          <p:cNvPr id="21" name="Step card 4"/>
          <p:cNvSpPr/>
          <p:nvPr/>
        </p:nvSpPr>
        <p:spPr>
          <a:xfrm>
            <a:off x="5431536" y="1234440"/>
            <a:ext cx="1463040" cy="173736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9525">
            <a:solidFill>
              <a:srgbClr val="D5E5CF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tep badge 4"/>
          <p:cNvSpPr/>
          <p:nvPr/>
        </p:nvSpPr>
        <p:spPr>
          <a:xfrm>
            <a:off x="5934456" y="1097280"/>
            <a:ext cx="457200" cy="4572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3" name="Step number 4"/>
          <p:cNvSpPr txBox="1"/>
          <p:nvPr/>
        </p:nvSpPr>
        <p:spPr>
          <a:xfrm>
            <a:off x="5934456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Step title 4"/>
          <p:cNvSpPr txBox="1"/>
          <p:nvPr/>
        </p:nvSpPr>
        <p:spPr>
          <a:xfrm>
            <a:off x="5504688" y="1664208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Analyse</a:t>
            </a:r>
            <a:endParaRPr lang="en-US" sz="1400" dirty="0"/>
          </a:p>
        </p:txBody>
      </p:sp>
      <p:sp>
        <p:nvSpPr>
          <p:cNvPr id="25" name="Step text 4"/>
          <p:cNvSpPr txBox="1"/>
          <p:nvPr/>
        </p:nvSpPr>
        <p:spPr>
          <a:xfrm>
            <a:off x="5522976" y="201168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tx1"/>
                </a:solidFill>
              </a:rPr>
              <a:t>Weather API and guidelines add context</a:t>
            </a:r>
            <a:endParaRPr lang="en-US" sz="1050" dirty="0"/>
          </a:p>
        </p:txBody>
      </p:sp>
      <p:sp>
        <p:nvSpPr>
          <p:cNvPr id="26" name="Arrow 4"/>
          <p:cNvSpPr txBox="1"/>
          <p:nvPr/>
        </p:nvSpPr>
        <p:spPr>
          <a:xfrm>
            <a:off x="6894576" y="18288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2"/>
                </a:solidFill>
              </a:rPr>
              <a:t>&gt;</a:t>
            </a:r>
            <a:endParaRPr lang="en-US" sz="1600" dirty="0"/>
          </a:p>
        </p:txBody>
      </p:sp>
      <p:sp>
        <p:nvSpPr>
          <p:cNvPr id="27" name="Step card 5"/>
          <p:cNvSpPr/>
          <p:nvPr/>
        </p:nvSpPr>
        <p:spPr>
          <a:xfrm>
            <a:off x="7059168" y="1234440"/>
            <a:ext cx="1463040" cy="173736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9525">
            <a:solidFill>
              <a:srgbClr val="D5E5CF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8" name="Step badge 5"/>
          <p:cNvSpPr/>
          <p:nvPr/>
        </p:nvSpPr>
        <p:spPr>
          <a:xfrm>
            <a:off x="7562088" y="1097280"/>
            <a:ext cx="457200" cy="45720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9" name="Step number 5"/>
          <p:cNvSpPr txBox="1"/>
          <p:nvPr/>
        </p:nvSpPr>
        <p:spPr>
          <a:xfrm>
            <a:off x="7562088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Step title 5"/>
          <p:cNvSpPr txBox="1"/>
          <p:nvPr/>
        </p:nvSpPr>
        <p:spPr>
          <a:xfrm>
            <a:off x="7132320" y="1664208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Advise</a:t>
            </a:r>
            <a:endParaRPr lang="en-US" sz="1400" dirty="0"/>
          </a:p>
        </p:txBody>
      </p:sp>
      <p:sp>
        <p:nvSpPr>
          <p:cNvPr id="31" name="Step text 5"/>
          <p:cNvSpPr txBox="1"/>
          <p:nvPr/>
        </p:nvSpPr>
        <p:spPr>
          <a:xfrm>
            <a:off x="7150608" y="201168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tx1"/>
                </a:solidFill>
              </a:rPr>
              <a:t>Fertilizer, treatment and recovery time</a:t>
            </a:r>
            <a:endParaRPr lang="en-US" sz="1050" dirty="0"/>
          </a:p>
        </p:txBody>
      </p:sp>
      <p:sp>
        <p:nvSpPr>
          <p:cNvPr id="32" name="Layer card 1"/>
          <p:cNvSpPr/>
          <p:nvPr/>
        </p:nvSpPr>
        <p:spPr>
          <a:xfrm>
            <a:off x="548640" y="3291840"/>
            <a:ext cx="2560320" cy="1188720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Layer text 1"/>
          <p:cNvSpPr txBox="1"/>
          <p:nvPr/>
        </p:nvSpPr>
        <p:spPr>
          <a:xfrm>
            <a:off x="713232" y="32918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Frontend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</a:rPr>
              <a:t>Responsive web app, multilingual UI, voice input</a:t>
            </a:r>
            <a:endParaRPr lang="en-US" sz="1400" dirty="0"/>
          </a:p>
        </p:txBody>
      </p:sp>
      <p:sp>
        <p:nvSpPr>
          <p:cNvPr id="34" name="Layer card 2"/>
          <p:cNvSpPr/>
          <p:nvPr/>
        </p:nvSpPr>
        <p:spPr>
          <a:xfrm>
            <a:off x="3264408" y="3291840"/>
            <a:ext cx="2560320" cy="1188720"/>
          </a:xfrm>
          <a:prstGeom prst="roundRect">
            <a:avLst>
              <a:gd name="adj" fmla="val 7692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5" name="Layer text 2"/>
          <p:cNvSpPr txBox="1"/>
          <p:nvPr/>
        </p:nvSpPr>
        <p:spPr>
          <a:xfrm>
            <a:off x="3429000" y="32918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Backend &amp; AI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</a:rPr>
              <a:t>Node.js API, Python ML model, Gemini/Groq AI APIs</a:t>
            </a:r>
            <a:endParaRPr lang="en-US" sz="1400" dirty="0"/>
          </a:p>
        </p:txBody>
      </p:sp>
      <p:sp>
        <p:nvSpPr>
          <p:cNvPr id="36" name="Layer card 3"/>
          <p:cNvSpPr/>
          <p:nvPr/>
        </p:nvSpPr>
        <p:spPr>
          <a:xfrm>
            <a:off x="5980176" y="3291840"/>
            <a:ext cx="2560320" cy="1188720"/>
          </a:xfrm>
          <a:prstGeom prst="roundRect">
            <a:avLst>
              <a:gd name="adj" fmla="val 769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7" name="Layer text 3"/>
          <p:cNvSpPr txBox="1"/>
          <p:nvPr/>
        </p:nvSpPr>
        <p:spPr>
          <a:xfrm>
            <a:off x="6144768" y="32918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Data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</a:rPr>
              <a:t>MySQL database, Open-Meteo weather, crop price feeds</a:t>
            </a:r>
            <a:endParaRPr lang="en-US" sz="14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Hardware &amp; Software Resources</a:t>
            </a:r>
            <a:endParaRPr lang="en-US" sz="2800" dirty="0"/>
          </a:p>
        </p:txBody>
      </p:sp>
      <p:sp>
        <p:nvSpPr>
          <p:cNvPr id="3" name="Stack card 1"/>
          <p:cNvSpPr/>
          <p:nvPr/>
        </p:nvSpPr>
        <p:spPr>
          <a:xfrm>
            <a:off x="548640" y="1188720"/>
            <a:ext cx="2560320" cy="3337560"/>
          </a:xfrm>
          <a:prstGeom prst="roundRect">
            <a:avLst>
              <a:gd name="adj" fmla="val 3571"/>
            </a:avLst>
          </a:prstGeom>
          <a:solidFill>
            <a:schemeClr val="bg1"/>
          </a:solidFill>
          <a:ln w="9525">
            <a:solidFill>
              <a:srgbClr val="D5E5CF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tack header 1"/>
          <p:cNvSpPr/>
          <p:nvPr/>
        </p:nvSpPr>
        <p:spPr>
          <a:xfrm>
            <a:off x="548640" y="1188720"/>
            <a:ext cx="2560320" cy="68580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Softwar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44168"/>
            <a:ext cx="365760" cy="365760"/>
          </a:xfrm>
          <a:prstGeom prst="rect">
            <a:avLst/>
          </a:prstGeom>
        </p:spPr>
      </p:pic>
      <p:sp>
        <p:nvSpPr>
          <p:cNvPr id="6" name="Stack title 1"/>
          <p:cNvSpPr txBox="1"/>
          <p:nvPr/>
        </p:nvSpPr>
        <p:spPr>
          <a:xfrm>
            <a:off x="1234440" y="11887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Software</a:t>
            </a:r>
            <a:endParaRPr lang="en-US" sz="1700" dirty="0"/>
          </a:p>
        </p:txBody>
      </p:sp>
      <p:sp>
        <p:nvSpPr>
          <p:cNvPr id="7" name="Stack list 1"/>
          <p:cNvSpPr txBox="1"/>
          <p:nvPr/>
        </p:nvSpPr>
        <p:spPr>
          <a:xfrm>
            <a:off x="731520" y="2011680"/>
            <a:ext cx="22402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Node.js, TypeScript, Tailwind CSS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Python AI/ML disease model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MySQL database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Open-Meteo Weather API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Gemini / Groq AI APIs</a:t>
            </a:r>
            <a:endParaRPr lang="en-US" sz="1200" dirty="0"/>
          </a:p>
        </p:txBody>
      </p:sp>
      <p:sp>
        <p:nvSpPr>
          <p:cNvPr id="8" name="Stack card 2"/>
          <p:cNvSpPr/>
          <p:nvPr/>
        </p:nvSpPr>
        <p:spPr>
          <a:xfrm>
            <a:off x="3264408" y="1188720"/>
            <a:ext cx="2560320" cy="3337560"/>
          </a:xfrm>
          <a:prstGeom prst="roundRect">
            <a:avLst>
              <a:gd name="adj" fmla="val 3571"/>
            </a:avLst>
          </a:prstGeom>
          <a:solidFill>
            <a:schemeClr val="bg1"/>
          </a:solidFill>
          <a:ln w="9525">
            <a:solidFill>
              <a:srgbClr val="D5E5CF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tack header 2"/>
          <p:cNvSpPr/>
          <p:nvPr/>
        </p:nvSpPr>
        <p:spPr>
          <a:xfrm>
            <a:off x="3264408" y="1188720"/>
            <a:ext cx="2560320" cy="685800"/>
          </a:xfrm>
          <a:prstGeom prst="roundRect">
            <a:avLst>
              <a:gd name="adj" fmla="val 1333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0" name="Image 1" descr="Hardwar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88" y="1344168"/>
            <a:ext cx="365760" cy="365760"/>
          </a:xfrm>
          <a:prstGeom prst="rect">
            <a:avLst/>
          </a:prstGeom>
        </p:spPr>
      </p:pic>
      <p:sp>
        <p:nvSpPr>
          <p:cNvPr id="11" name="Stack title 2"/>
          <p:cNvSpPr txBox="1"/>
          <p:nvPr/>
        </p:nvSpPr>
        <p:spPr>
          <a:xfrm>
            <a:off x="3950208" y="11887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Hardware</a:t>
            </a:r>
            <a:endParaRPr lang="en-US" sz="1700" dirty="0"/>
          </a:p>
        </p:txBody>
      </p:sp>
      <p:sp>
        <p:nvSpPr>
          <p:cNvPr id="12" name="Stack list 2"/>
          <p:cNvSpPr txBox="1"/>
          <p:nvPr/>
        </p:nvSpPr>
        <p:spPr>
          <a:xfrm>
            <a:off x="3447288" y="2011680"/>
            <a:ext cx="22402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Laptop or cloud server for development and AI processing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Smartphone with camera for farmers</a:t>
            </a:r>
            <a:endParaRPr lang="en-US" sz="1200" dirty="0"/>
          </a:p>
        </p:txBody>
      </p:sp>
      <p:sp>
        <p:nvSpPr>
          <p:cNvPr id="13" name="Stack card 3"/>
          <p:cNvSpPr/>
          <p:nvPr/>
        </p:nvSpPr>
        <p:spPr>
          <a:xfrm>
            <a:off x="5980176" y="1188720"/>
            <a:ext cx="2560320" cy="3337560"/>
          </a:xfrm>
          <a:prstGeom prst="roundRect">
            <a:avLst>
              <a:gd name="adj" fmla="val 3571"/>
            </a:avLst>
          </a:prstGeom>
          <a:solidFill>
            <a:schemeClr val="bg1"/>
          </a:solidFill>
          <a:ln w="9525">
            <a:solidFill>
              <a:srgbClr val="D5E5CF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tack header 3"/>
          <p:cNvSpPr/>
          <p:nvPr/>
        </p:nvSpPr>
        <p:spPr>
          <a:xfrm>
            <a:off x="5980176" y="1188720"/>
            <a:ext cx="2560320" cy="68580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mage 2" descr="Acces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3056" y="1344168"/>
            <a:ext cx="365760" cy="365760"/>
          </a:xfrm>
          <a:prstGeom prst="rect">
            <a:avLst/>
          </a:prstGeom>
        </p:spPr>
      </p:pic>
      <p:sp>
        <p:nvSpPr>
          <p:cNvPr id="16" name="Stack title 3"/>
          <p:cNvSpPr txBox="1"/>
          <p:nvPr/>
        </p:nvSpPr>
        <p:spPr>
          <a:xfrm>
            <a:off x="6665976" y="11887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Access</a:t>
            </a:r>
            <a:endParaRPr lang="en-US" sz="1700" dirty="0"/>
          </a:p>
        </p:txBody>
      </p:sp>
      <p:sp>
        <p:nvSpPr>
          <p:cNvPr id="17" name="Stack list 3"/>
          <p:cNvSpPr txBox="1"/>
          <p:nvPr/>
        </p:nvSpPr>
        <p:spPr>
          <a:xfrm>
            <a:off x="6163056" y="2011680"/>
            <a:ext cx="22402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Responsive web app on mobile and desktop browsers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Multilingual UI with voice support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Offline access to selected farming info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 &amp; Conclusion</a:t>
            </a:r>
            <a:endParaRPr lang="en-US" sz="2800" dirty="0"/>
          </a:p>
        </p:txBody>
      </p:sp>
      <p:sp>
        <p:nvSpPr>
          <p:cNvPr id="3" name="Stat card 1"/>
          <p:cNvSpPr/>
          <p:nvPr/>
        </p:nvSpPr>
        <p:spPr>
          <a:xfrm>
            <a:off x="548640" y="1188720"/>
            <a:ext cx="2560320" cy="1051560"/>
          </a:xfrm>
          <a:prstGeom prst="roundRect">
            <a:avLst>
              <a:gd name="adj" fmla="val 8696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Stat value 1"/>
          <p:cNvSpPr txBox="1"/>
          <p:nvPr/>
        </p:nvSpPr>
        <p:spPr>
          <a:xfrm>
            <a:off x="548640" y="12344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Seconds</a:t>
            </a:r>
            <a:endParaRPr lang="en-US" sz="3000" dirty="0"/>
          </a:p>
        </p:txBody>
      </p:sp>
      <p:sp>
        <p:nvSpPr>
          <p:cNvPr id="5" name="Stat label 1"/>
          <p:cNvSpPr txBox="1"/>
          <p:nvPr/>
        </p:nvSpPr>
        <p:spPr>
          <a:xfrm>
            <a:off x="548640" y="18105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to detect a crop disease</a:t>
            </a:r>
            <a:endParaRPr lang="en-US" sz="1200" dirty="0"/>
          </a:p>
        </p:txBody>
      </p:sp>
      <p:sp>
        <p:nvSpPr>
          <p:cNvPr id="6" name="Stat card 2"/>
          <p:cNvSpPr/>
          <p:nvPr/>
        </p:nvSpPr>
        <p:spPr>
          <a:xfrm>
            <a:off x="3264408" y="1188720"/>
            <a:ext cx="2560320" cy="1051560"/>
          </a:xfrm>
          <a:prstGeom prst="roundRect">
            <a:avLst>
              <a:gd name="adj" fmla="val 8696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Stat value 2"/>
          <p:cNvSpPr txBox="1"/>
          <p:nvPr/>
        </p:nvSpPr>
        <p:spPr>
          <a:xfrm>
            <a:off x="3264408" y="12344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000" dirty="0"/>
          </a:p>
        </p:txBody>
      </p:sp>
      <p:sp>
        <p:nvSpPr>
          <p:cNvPr id="8" name="Stat label 2"/>
          <p:cNvSpPr txBox="1"/>
          <p:nvPr/>
        </p:nvSpPr>
        <p:spPr>
          <a:xfrm>
            <a:off x="3264408" y="18105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languages with voice support</a:t>
            </a:r>
            <a:endParaRPr lang="en-US" sz="1200" dirty="0"/>
          </a:p>
        </p:txBody>
      </p:sp>
      <p:sp>
        <p:nvSpPr>
          <p:cNvPr id="9" name="Stat card 3"/>
          <p:cNvSpPr/>
          <p:nvPr/>
        </p:nvSpPr>
        <p:spPr>
          <a:xfrm>
            <a:off x="5980176" y="1188720"/>
            <a:ext cx="2560320" cy="1051560"/>
          </a:xfrm>
          <a:prstGeom prst="roundRect">
            <a:avLst>
              <a:gd name="adj" fmla="val 8696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Stat value 3"/>
          <p:cNvSpPr txBox="1"/>
          <p:nvPr/>
        </p:nvSpPr>
        <p:spPr>
          <a:xfrm>
            <a:off x="5980176" y="12344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App</a:t>
            </a:r>
            <a:endParaRPr lang="en-US" sz="3000" dirty="0"/>
          </a:p>
        </p:txBody>
      </p:sp>
      <p:sp>
        <p:nvSpPr>
          <p:cNvPr id="11" name="Stat label 3"/>
          <p:cNvSpPr txBox="1"/>
          <p:nvPr/>
        </p:nvSpPr>
        <p:spPr>
          <a:xfrm>
            <a:off x="5980176" y="18105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for all farming needs</a:t>
            </a:r>
            <a:endParaRPr lang="en-US" sz="1200" dirty="0"/>
          </a:p>
        </p:txBody>
      </p:sp>
      <p:pic>
        <p:nvPicPr>
          <p:cNvPr id="12" name="Image 0" descr="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560320"/>
            <a:ext cx="237744" cy="237744"/>
          </a:xfrm>
          <a:prstGeom prst="rect">
            <a:avLst/>
          </a:prstGeom>
        </p:spPr>
      </p:pic>
      <p:sp>
        <p:nvSpPr>
          <p:cNvPr id="13" name="Conclusion point 1"/>
          <p:cNvSpPr txBox="1"/>
          <p:nvPr/>
        </p:nvSpPr>
        <p:spPr>
          <a:xfrm>
            <a:off x="960120" y="2514600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bg1"/>
                </a:solidFill>
              </a:rPr>
              <a:t>Early disease detection and reduced crop losses</a:t>
            </a:r>
            <a:endParaRPr lang="en-US" sz="1350" dirty="0"/>
          </a:p>
        </p:txBody>
      </p:sp>
      <p:pic>
        <p:nvPicPr>
          <p:cNvPr id="14" name="Image 1" descr="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944368"/>
            <a:ext cx="237744" cy="237744"/>
          </a:xfrm>
          <a:prstGeom prst="rect">
            <a:avLst/>
          </a:prstGeom>
        </p:spPr>
      </p:pic>
      <p:sp>
        <p:nvSpPr>
          <p:cNvPr id="15" name="Conclusion point 2"/>
          <p:cNvSpPr txBox="1"/>
          <p:nvPr/>
        </p:nvSpPr>
        <p:spPr>
          <a:xfrm>
            <a:off x="960120" y="289864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bg1"/>
                </a:solidFill>
              </a:rPr>
              <a:t>Affordable, open-source based technology for easy adoption</a:t>
            </a:r>
            <a:endParaRPr lang="en-US" sz="1350" dirty="0"/>
          </a:p>
        </p:txBody>
      </p:sp>
      <p:pic>
        <p:nvPicPr>
          <p:cNvPr id="16" name="Image 2" descr="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328416"/>
            <a:ext cx="237744" cy="237744"/>
          </a:xfrm>
          <a:prstGeom prst="rect">
            <a:avLst/>
          </a:prstGeom>
        </p:spPr>
      </p:pic>
      <p:sp>
        <p:nvSpPr>
          <p:cNvPr id="17" name="Conclusion point 3"/>
          <p:cNvSpPr txBox="1"/>
          <p:nvPr/>
        </p:nvSpPr>
        <p:spPr>
          <a:xfrm>
            <a:off x="960120" y="3282696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bg1"/>
                </a:solidFill>
              </a:rPr>
              <a:t>Better farming decisions through weather, prices and recovery estimates</a:t>
            </a:r>
            <a:endParaRPr lang="en-US" sz="1350" dirty="0"/>
          </a:p>
        </p:txBody>
      </p:sp>
      <p:pic>
        <p:nvPicPr>
          <p:cNvPr id="18" name="Image 3" descr="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712464"/>
            <a:ext cx="237744" cy="237744"/>
          </a:xfrm>
          <a:prstGeom prst="rect">
            <a:avLst/>
          </a:prstGeom>
        </p:spPr>
      </p:pic>
      <p:sp>
        <p:nvSpPr>
          <p:cNvPr id="19" name="Conclusion point 4"/>
          <p:cNvSpPr txBox="1"/>
          <p:nvPr/>
        </p:nvSpPr>
        <p:spPr>
          <a:xfrm>
            <a:off x="960120" y="3666744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bg1"/>
                </a:solidFill>
              </a:rPr>
              <a:t>Smart, sustainable farming for every farmer in their own language</a:t>
            </a:r>
            <a:endParaRPr lang="en-US" sz="1350" dirty="0"/>
          </a:p>
        </p:txBody>
      </p:sp>
      <p:sp>
        <p:nvSpPr>
          <p:cNvPr id="20" name="References"/>
          <p:cNvSpPr txBox="1"/>
          <p:nvPr/>
        </p:nvSpPr>
        <p:spPr>
          <a:xfrm>
            <a:off x="548640" y="41605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2"/>
                </a:solidFill>
              </a:rPr>
              <a:t>References: Maha VISTAAR (vistaar.maharashtra.gov.in)  |  ICAR (icar.org.in)  |  IMD (mausam.imd.gov.in)  |  Open-Meteo (open-meteo.com)  |  PlantVillage (plantvillage.psu.edu)</a:t>
            </a:r>
            <a:endParaRPr lang="en-US" sz="900" dirty="0"/>
          </a:p>
        </p:txBody>
      </p:sp>
      <p:sp>
        <p:nvSpPr>
          <p:cNvPr id="21" name="Thank you"/>
          <p:cNvSpPr txBox="1"/>
          <p:nvPr/>
        </p:nvSpPr>
        <p:spPr>
          <a:xfrm>
            <a:off x="6217920" y="411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chemeClr val="accent2"/>
                </a:solidFill>
              </a:rPr>
              <a:t>Thank You!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hetPlus Agro">
  <a:themeElements>
    <a:clrScheme name="KhetPlus Agro">
      <a:dk1>
        <a:srgbClr val="0B2A1C"/>
      </a:dk1>
      <a:lt1>
        <a:srgbClr val="FFFFFF"/>
      </a:lt1>
      <a:dk2>
        <a:srgbClr val="14532D"/>
      </a:dk2>
      <a:lt2>
        <a:srgbClr val="F3F8EE"/>
      </a:lt2>
      <a:accent1>
        <a:srgbClr val="22A55A"/>
      </a:accent1>
      <a:accent2>
        <a:srgbClr val="F5B400"/>
      </a:accent2>
      <a:accent3>
        <a:srgbClr val="0EA5E9"/>
      </a:accent3>
      <a:accent4>
        <a:srgbClr val="84CC16"/>
      </a:accent4>
      <a:accent5>
        <a:srgbClr val="E5533D"/>
      </a:accent5>
      <a:accent6>
        <a:srgbClr val="0F766E"/>
      </a:accent6>
      <a:hlink>
        <a:srgbClr val="0EA5E9"/>
      </a:hlink>
      <a:folHlink>
        <a:srgbClr val="14532D"/>
      </a:folHlink>
    </a:clrScheme>
    <a:fontScheme name="KhetPlus Agro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748</Words>
  <Application>Microsoft Office PowerPoint</Application>
  <PresentationFormat>On-screen Show (16:9)</PresentationFormat>
  <Paragraphs>135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Trebuchet MS</vt:lpstr>
      <vt:lpstr>KhetPlus Agro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KhetPlus - Hackathon Presentation</dc:title>
  <dc:subject>PptxGenJS Presentation</dc:subject>
  <dc:creator>PptxGenJS</dc:creator>
  <cp:lastModifiedBy>Sujal Bujare</cp:lastModifiedBy>
  <cp:revision>2</cp:revision>
  <dcterms:created xsi:type="dcterms:W3CDTF">2026-10-21T04:34:21Z</dcterms:created>
  <dcterms:modified xsi:type="dcterms:W3CDTF">2026-10-21T04:43:02Z</dcterms:modified>
</cp:coreProperties>
</file>